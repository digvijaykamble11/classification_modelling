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Classification Model — Platam Performance Enhancement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4A90D9"/>
                </a:solidFill>
              </a:defRPr>
            </a:pPr>
            <a:r>
              <a:t>Data Augmentation Analysis &amp; Model Evaluation  |  February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91840"/>
            <a:ext cx="1828800" cy="4572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1. Objective</a:t>
            </a:r>
            <a:r>
              <a:rPr sz="1400">
                <a:solidFill>
                  <a:srgbClr val="333333"/>
                </a:solidFill>
              </a:rPr>
              <a:t> — Why we are doing this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2. Data &amp; Process Overview</a:t>
            </a:r>
            <a:r>
              <a:rPr sz="1400">
                <a:solidFill>
                  <a:srgbClr val="333333"/>
                </a:solidFill>
              </a:rPr>
              <a:t> — End-to-end pipeline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3. Feature Selection &amp; Preprocessing</a:t>
            </a:r>
            <a:r>
              <a:rPr sz="1400">
                <a:solidFill>
                  <a:srgbClr val="333333"/>
                </a:solidFill>
              </a:rPr>
              <a:t> — What was kept, dropped, and why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4. Model Training</a:t>
            </a:r>
            <a:r>
              <a:rPr sz="1400">
                <a:solidFill>
                  <a:srgbClr val="333333"/>
                </a:solidFill>
              </a:rPr>
              <a:t> — XGBoost with GridSearchCV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5. Metric Definitions</a:t>
            </a:r>
            <a:r>
              <a:rPr sz="1400">
                <a:solidFill>
                  <a:srgbClr val="333333"/>
                </a:solidFill>
              </a:rPr>
              <a:t> — What each metric means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6. Model Performance — Main Data</a:t>
            </a:r>
            <a:r>
              <a:rPr sz="1400">
                <a:solidFill>
                  <a:srgbClr val="333333"/>
                </a:solidFill>
              </a:rPr>
              <a:t> — Baseline model results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7. Model Performance — Augmented Data</a:t>
            </a:r>
            <a:r>
              <a:rPr sz="1400">
                <a:solidFill>
                  <a:srgbClr val="333333"/>
                </a:solidFill>
              </a:rPr>
              <a:t> — With external data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8. Performance Comparison</a:t>
            </a:r>
            <a:r>
              <a:rPr sz="1400">
                <a:solidFill>
                  <a:srgbClr val="333333"/>
                </a:solidFill>
              </a:rPr>
              <a:t> — Main vs Augmented, Dev vs Holdout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9. KS Statistic</a:t>
            </a:r>
            <a:r>
              <a:rPr sz="1400">
                <a:solidFill>
                  <a:srgbClr val="333333"/>
                </a:solidFill>
              </a:rPr>
              <a:t> — Discrimination power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10. Feature Importance — Main Model</a:t>
            </a:r>
            <a:r>
              <a:rPr sz="1400">
                <a:solidFill>
                  <a:srgbClr val="333333"/>
                </a:solidFill>
              </a:rPr>
              <a:t> — XGB Gain &amp; Permutation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11. Feature Importance — Augmented Model</a:t>
            </a:r>
            <a:r>
              <a:rPr sz="1400">
                <a:solidFill>
                  <a:srgbClr val="333333"/>
                </a:solidFill>
              </a:rPr>
              <a:t> — Impact of external features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12. Column Tracking</a:t>
            </a:r>
            <a:r>
              <a:rPr sz="1400">
                <a:solidFill>
                  <a:srgbClr val="333333"/>
                </a:solidFill>
              </a:rPr>
              <a:t> — Full audit trail of columns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13. Features Used in Each Model</a:t>
            </a:r>
            <a:r>
              <a:rPr sz="1400">
                <a:solidFill>
                  <a:srgbClr val="333333"/>
                </a:solidFill>
              </a:rPr>
              <a:t> — Final feature lists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14. Key Findings &amp;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Goal:</a:t>
            </a:r>
            <a:r>
              <a:rPr sz="1400">
                <a:solidFill>
                  <a:srgbClr val="333333"/>
                </a:solidFill>
              </a:rPr>
              <a:t> Improve the Platam classification model performance by augmenting the existing internal data with external data sources.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Approach: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- Train a baseline model using only internal/main data features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- Train an augmented model using internal + external data features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- Compare performance across Dev-Test and Holdout (true out-of-sample) sets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- Evaluate whether external data provides meaningful lift in discrimination power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External Data Sources: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- Business financials (revenue, profit, financial strength)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- Digital presence scores (trust score, online presence, digital health)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- Social media data (Google Maps reviews/ratings, Facebook engagement, Instagram metrics)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- Fraud risk scoring (Monnai scores, fraud risk score)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- Industry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Data &amp; Process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Step 1 — Data Loading &amp; Holdout Split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15% of data held out before any preprocessing (true OOS test)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Step 2 — Column Selection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Keep only relevant features from the full dataset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Step 3 — Null Analysis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Drop columns with &gt; 40% null values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Step 4 — Variation Analysis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KS test (numerical) &amp; Cramer's V (categorical) to flag low-information columns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Threshold: 0.02 — columns below this are flagged for review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Step 5 — Binning &amp; Encoding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Numerical columns binned into 5 quantile bins, then one-hot encoded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Step 6 — External Data Pipeline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Same preprocessing applied to external features, then concatenated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Step 7 — Model Training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XGBoost with GridSearchCV (5-fold stratified CV, ROC AUC scoring)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Step 8 — Feature Importance &amp; Selection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Auto-flag suspicious features (high XGB gain but low permutation importance)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Feature Selection &amp;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Initial Main Columns:</a:t>
            </a:r>
            <a:r>
              <a:rPr sz="1400">
                <a:solidFill>
                  <a:srgbClr val="333333"/>
                </a:solidFill>
              </a:rPr>
              <a:t> 0 features selected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Dropped by Null Analysis (&gt;40% nulls):</a:t>
            </a:r>
            <a:r>
              <a:rPr sz="1400">
                <a:solidFill>
                  <a:srgbClr val="333333"/>
                </a:solidFill>
              </a:rPr>
              <a:t> 0 columns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Dropped by Low Variation:</a:t>
            </a:r>
            <a:r>
              <a:rPr sz="1400">
                <a:solidFill>
                  <a:srgbClr val="333333"/>
                </a:solidFill>
              </a:rPr>
              <a:t> 0 columns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Binning Moved to Categorical:</a:t>
            </a:r>
            <a:r>
              <a:rPr sz="1400">
                <a:solidFill>
                  <a:srgbClr val="333333"/>
                </a:solidFill>
              </a:rPr>
              <a:t> 0 columns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External Columns Pipeline: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Input: 0 external features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Covering: Business financials, SWOT analysis, digital scores, social media metrics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Same preprocessing: null analysis, variation analysis, binning, OHE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Model Training — XGBoost with GridSearchCV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Algorithm:</a:t>
            </a:r>
            <a:r>
              <a:rPr sz="1400">
                <a:solidFill>
                  <a:srgbClr val="333333"/>
                </a:solidFill>
              </a:rPr>
              <a:t> XGBoost (Gradient Boosted Trees)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Cross-Validation:</a:t>
            </a:r>
            <a:r>
              <a:rPr sz="1400">
                <a:solidFill>
                  <a:srgbClr val="333333"/>
                </a:solidFill>
              </a:rPr>
              <a:t> 5-fold Stratified K-Fold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Scoring Metric:</a:t>
            </a:r>
            <a:r>
              <a:rPr sz="1400">
                <a:solidFill>
                  <a:srgbClr val="333333"/>
                </a:solidFill>
              </a:rPr>
              <a:t> ROC AUC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Class Imbalance Handling:</a:t>
            </a:r>
            <a:r>
              <a:rPr sz="1400">
                <a:solidFill>
                  <a:srgbClr val="333333"/>
                </a:solidFill>
              </a:rPr>
              <a:t> scale_pos_weight = negative_count / positive_count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Hyperparameter Search Space: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n_estimators: [100, 200, 300]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max_depth: [3, 5, 7]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learning_rate: [0.01, 0.05, 0.1]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subsample: [0.8, 1.0]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colsample_bytree: [0.8, 1.0]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min_child_weight: [1, 3, 5]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Best Parameters (Main Model):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(will be populated after training)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Metric Definitions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Accuracy</a:t>
            </a:r>
            <a:r>
              <a:rPr sz="1400">
                <a:solidFill>
                  <a:srgbClr val="333333"/>
                </a:solidFill>
              </a:rPr>
              <a:t> — Proportion of correctly classified instances (TP+TN) / Total. Simple but can be misleading with imbalanced data.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Balanced Accuracy</a:t>
            </a:r>
            <a:r>
              <a:rPr sz="1400">
                <a:solidFill>
                  <a:srgbClr val="333333"/>
                </a:solidFill>
              </a:rPr>
              <a:t> — Average of recall for each class: (Sensitivity + Specificity) / 2. Better for imbalanced datasets as it gives equal weight to both classes.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F1 Score</a:t>
            </a:r>
            <a:r>
              <a:rPr sz="1400">
                <a:solidFill>
                  <a:srgbClr val="333333"/>
                </a:solidFill>
              </a:rPr>
              <a:t> — Harmonic mean of Precision and Recall: 2 x (P x R) / (P + R). Balances the trade-off between false positives and false negatives.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AUC (ROC)</a:t>
            </a:r>
            <a:r>
              <a:rPr sz="1400">
                <a:solidFill>
                  <a:srgbClr val="333333"/>
                </a:solidFill>
              </a:rPr>
              <a:t> — Area Under the ROC Curve. Measures the model's ability to rank-order predictions. 0.5 = random, 1.0 = perfect separation.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Gini Coefficient</a:t>
            </a:r>
            <a:r>
              <a:rPr sz="1400">
                <a:solidFill>
                  <a:srgbClr val="333333"/>
                </a:solidFill>
              </a:rPr>
              <a:t> — 2 x AUC - 1. Common in credit scoring. 0 = no discrimination, 1 = perfect discrimination.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KS Statistic (Kolmogorov-Smirnov)</a:t>
            </a:r>
            <a:r>
              <a:rPr sz="1400">
                <a:solidFill>
                  <a:srgbClr val="333333"/>
                </a:solidFill>
              </a:rPr>
              <a:t> — Maximum separation between the cumulative distribution functions of positive and negative classes. Higher = better discrimination. Widely used in credit risk to measure model power.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6. Model Performance — Main Data Only (Baseline)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Dev Test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Holdout (OOS)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Balanced 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F1 Score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AUC (ROC)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Gini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KS Statistic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7. Model Performance — Augmented Data (Main + External)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Dev Test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Holdout (OOS)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Balanced 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F1 Score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AUC (ROC)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Gini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KS Statistic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8. Performance Comparison — Main vs Augmented, Dev vs Holdout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155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10312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Dev Main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Dev Augmented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Holdout Main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Holdout Augmented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Balanced 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F1 Score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AUC (ROC)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Gini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KS Statistic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9. KS Statistic — Model Discrimination Power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KS Statistic</a:t>
            </a:r>
            <a:r>
              <a:rPr sz="1400">
                <a:solidFill>
                  <a:srgbClr val="333333"/>
                </a:solidFill>
              </a:rPr>
              <a:t> measures the maximum distance between the cumulative distribution functions of good (non-default) and bad (default) populations.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Interpretation: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KS &gt; 0.40 — Excellent discrimination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KS 0.30 - 0.40 — Good discrimination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KS 0.20 - 0.30 — Acceptable discrimination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KS &lt; 0.20 — Weak discrimination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Results: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(KS values will be populated after training)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10. Feature Importance — Main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XGBoost Gain:</a:t>
            </a:r>
            <a:r>
              <a:rPr sz="1400">
                <a:solidFill>
                  <a:srgbClr val="333333"/>
                </a:solidFill>
              </a:rPr>
              <a:t> Measures how much each feature contributes to the model's splits. Higher gain = feature is used more frequently and effectively in tree splits.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Permutation Importance (AUC Drop):</a:t>
            </a:r>
            <a:r>
              <a:rPr sz="1400">
                <a:solidFill>
                  <a:srgbClr val="333333"/>
                </a:solidFill>
              </a:rPr>
              <a:t> Measures the actual drop in ROC AUC when a feature's values are randomly shuffled. Shows true predictive value.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Suspicious Feature Detection: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Features with high XGB gain but low permutation importance are flagged.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These may be high-cardinality noise that trees memorise but don't genuinely help.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Such features are auto-dropped to prevent overfitting.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(Detailed feature importance table will be populated after training)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11. Feature Importance — Augmented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With External Data Augmentation: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The augmented model includes external features from business financials,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digital presence, social media, and fraud risk scoring.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Key analysis: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- XGB Gain: Which external features the model uses most in tree splits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- Perm Importance (AUC Drop): Which external features truly improve predictions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- Features with high gain but low perm importance are noise — auto-dropped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(Detailed table will be populated after training)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12. Column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(Column tracking data will be populated after training)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13a. Features — Main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Total features used:</a:t>
            </a:r>
            <a:r>
              <a:rPr sz="1400">
                <a:solidFill>
                  <a:srgbClr val="333333"/>
                </a:solidFill>
              </a:rPr>
              <a:t> 0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Features dropped (auto-flag):</a:t>
            </a:r>
            <a:r>
              <a:rPr sz="1400">
                <a:solidFill>
                  <a:srgbClr val="333333"/>
                </a:solidFill>
              </a:rPr>
              <a:t> 0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Dropped features (none):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13b. Features — Augmented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No augmented model (no external data used).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14. Key Findings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Baseline Model (Main Data Only):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(Metrics pending)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Augmented Model (Main + External Data):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(Metrics pending)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Holdout Validation: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(Pending)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</a:rPr>
              <a:t>Recommendations: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- Review the external features with high permutation importance for production inclusion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- Monitor model stability with periodic holdout validation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  - Consider feature engineering on top-contributing external features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4A90D9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91840"/>
            <a:ext cx="1828800" cy="4572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